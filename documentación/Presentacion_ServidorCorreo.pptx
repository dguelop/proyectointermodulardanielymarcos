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4" roundtripDataSignature="AMtx7mh0tw5jr08CPqS0joBoYgsft9Q9c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3DDE6C4-1B91-4A86-BC09-4D31179B8624}">
  <a:tblStyle styleId="{13DDE6C4-1B91-4A86-BC09-4D31179B862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customschemas.google.com/relationships/presentationmetadata" Target="meta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" name="Google Shape;36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" name="Google Shape;60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" name="Google Shape;61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8" name="Google Shape;108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7" name="Google Shape;137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7" name="Google Shape;167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2" name="Google Shape;202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9" name="Google Shape;229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10.png"/><Relationship Id="rId5" Type="http://schemas.openxmlformats.org/officeDocument/2006/relationships/image" Target="../media/image18.png"/><Relationship Id="rId6" Type="http://schemas.openxmlformats.org/officeDocument/2006/relationships/image" Target="../media/image28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9.png"/><Relationship Id="rId4" Type="http://schemas.openxmlformats.org/officeDocument/2006/relationships/image" Target="../media/image6.png"/><Relationship Id="rId5" Type="http://schemas.openxmlformats.org/officeDocument/2006/relationships/image" Target="../media/image4.png"/><Relationship Id="rId6" Type="http://schemas.openxmlformats.org/officeDocument/2006/relationships/image" Target="../media/image2.png"/><Relationship Id="rId7" Type="http://schemas.openxmlformats.org/officeDocument/2006/relationships/image" Target="../media/image13.png"/><Relationship Id="rId8" Type="http://schemas.openxmlformats.org/officeDocument/2006/relationships/image" Target="../media/image3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Relationship Id="rId4" Type="http://schemas.openxmlformats.org/officeDocument/2006/relationships/image" Target="../media/image14.png"/><Relationship Id="rId5" Type="http://schemas.openxmlformats.org/officeDocument/2006/relationships/image" Target="../media/image28.png"/><Relationship Id="rId6" Type="http://schemas.openxmlformats.org/officeDocument/2006/relationships/image" Target="../media/image19.png"/><Relationship Id="rId7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1.png"/><Relationship Id="rId4" Type="http://schemas.openxmlformats.org/officeDocument/2006/relationships/image" Target="../media/image6.png"/><Relationship Id="rId9" Type="http://schemas.openxmlformats.org/officeDocument/2006/relationships/image" Target="../media/image19.png"/><Relationship Id="rId5" Type="http://schemas.openxmlformats.org/officeDocument/2006/relationships/image" Target="../media/image17.png"/><Relationship Id="rId6" Type="http://schemas.openxmlformats.org/officeDocument/2006/relationships/image" Target="../media/image16.png"/><Relationship Id="rId7" Type="http://schemas.openxmlformats.org/officeDocument/2006/relationships/image" Target="../media/image14.png"/><Relationship Id="rId8" Type="http://schemas.openxmlformats.org/officeDocument/2006/relationships/image" Target="../media/image28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0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1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8" name="Google Shape;18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32320" y="914400"/>
            <a:ext cx="1737360" cy="1737360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1"/>
          <p:cNvSpPr/>
          <p:nvPr/>
        </p:nvSpPr>
        <p:spPr>
          <a:xfrm>
            <a:off x="457200" y="822960"/>
            <a:ext cx="6217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3800"/>
              <a:buFont typeface="Calibri"/>
              <a:buNone/>
            </a:pPr>
            <a:r>
              <a:rPr b="1" i="0" lang="en-US" sz="38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Servidor de Correo</a:t>
            </a:r>
            <a:endParaRPr b="0" i="0" sz="3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457200" y="1554480"/>
            <a:ext cx="62179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63EB"/>
              </a:buClr>
              <a:buSzPts val="3800"/>
              <a:buFont typeface="Calibri"/>
              <a:buNone/>
            </a:pPr>
            <a:r>
              <a:rPr b="1" i="0" lang="en-US" sz="3800" u="none" cap="none" strike="noStrike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rPr>
              <a:t>Corporativo</a:t>
            </a:r>
            <a:endParaRPr b="0" i="0" sz="3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457200" y="2423160"/>
            <a:ext cx="62179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Proyecto Intermodular · Daniel y Marcos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457200" y="3017520"/>
            <a:ext cx="1280160" cy="347472"/>
          </a:xfrm>
          <a:prstGeom prst="rect">
            <a:avLst/>
          </a:prstGeom>
          <a:solidFill>
            <a:srgbClr val="DBEAFE"/>
          </a:solidFill>
          <a:ln cap="flat" cmpd="sng" w="9525">
            <a:solidFill>
              <a:srgbClr val="2563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" name="Google Shape;23;p1"/>
          <p:cNvSpPr/>
          <p:nvPr/>
        </p:nvSpPr>
        <p:spPr>
          <a:xfrm>
            <a:off x="457200" y="3017520"/>
            <a:ext cx="12801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63EB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rPr>
              <a:t>Postfix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1"/>
          <p:cNvSpPr/>
          <p:nvPr/>
        </p:nvSpPr>
        <p:spPr>
          <a:xfrm>
            <a:off x="1874520" y="3017520"/>
            <a:ext cx="1280160" cy="347472"/>
          </a:xfrm>
          <a:prstGeom prst="rect">
            <a:avLst/>
          </a:prstGeom>
          <a:solidFill>
            <a:srgbClr val="DBEAFE"/>
          </a:solidFill>
          <a:ln cap="flat" cmpd="sng" w="9525">
            <a:solidFill>
              <a:srgbClr val="2563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" name="Google Shape;25;p1"/>
          <p:cNvSpPr/>
          <p:nvPr/>
        </p:nvSpPr>
        <p:spPr>
          <a:xfrm>
            <a:off x="1874520" y="3017520"/>
            <a:ext cx="12801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63EB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rPr>
              <a:t>Dovecot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1"/>
          <p:cNvSpPr/>
          <p:nvPr/>
        </p:nvSpPr>
        <p:spPr>
          <a:xfrm>
            <a:off x="3291840" y="3017520"/>
            <a:ext cx="1280160" cy="347472"/>
          </a:xfrm>
          <a:prstGeom prst="rect">
            <a:avLst/>
          </a:prstGeom>
          <a:solidFill>
            <a:srgbClr val="DBEAFE"/>
          </a:solidFill>
          <a:ln cap="flat" cmpd="sng" w="9525">
            <a:solidFill>
              <a:srgbClr val="2563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" name="Google Shape;27;p1"/>
          <p:cNvSpPr/>
          <p:nvPr/>
        </p:nvSpPr>
        <p:spPr>
          <a:xfrm>
            <a:off x="3291840" y="3017520"/>
            <a:ext cx="12801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63EB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rPr>
              <a:t>Roundcube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1"/>
          <p:cNvSpPr/>
          <p:nvPr/>
        </p:nvSpPr>
        <p:spPr>
          <a:xfrm>
            <a:off x="4709160" y="3017520"/>
            <a:ext cx="1280160" cy="347472"/>
          </a:xfrm>
          <a:prstGeom prst="rect">
            <a:avLst/>
          </a:prstGeom>
          <a:solidFill>
            <a:srgbClr val="DBEAFE"/>
          </a:solidFill>
          <a:ln cap="flat" cmpd="sng" w="9525">
            <a:solidFill>
              <a:srgbClr val="2563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" name="Google Shape;29;p1"/>
          <p:cNvSpPr/>
          <p:nvPr/>
        </p:nvSpPr>
        <p:spPr>
          <a:xfrm>
            <a:off x="4709160" y="3017520"/>
            <a:ext cx="12801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63EB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rPr>
              <a:t>Ubuntu Server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1"/>
          <p:cNvSpPr/>
          <p:nvPr/>
        </p:nvSpPr>
        <p:spPr>
          <a:xfrm>
            <a:off x="6126480" y="3017520"/>
            <a:ext cx="1280160" cy="347472"/>
          </a:xfrm>
          <a:prstGeom prst="rect">
            <a:avLst/>
          </a:prstGeom>
          <a:solidFill>
            <a:srgbClr val="DBEAFE"/>
          </a:solidFill>
          <a:ln cap="flat" cmpd="sng" w="9525">
            <a:solidFill>
              <a:srgbClr val="2563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" name="Google Shape;31;p1"/>
          <p:cNvSpPr/>
          <p:nvPr/>
        </p:nvSpPr>
        <p:spPr>
          <a:xfrm>
            <a:off x="6126480" y="3017520"/>
            <a:ext cx="12801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63EB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rPr>
              <a:t>Webmin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1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" name="Google Shape;33;p1"/>
          <p:cNvSpPr/>
          <p:nvPr/>
        </p:nvSpPr>
        <p:spPr>
          <a:xfrm>
            <a:off x="274320" y="4773168"/>
            <a:ext cx="85953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proyectosmr.abrdns.com  ·  202</a:t>
            </a:r>
            <a:r>
              <a:rPr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– 202</a:t>
            </a:r>
            <a:r>
              <a:rPr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2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457200" y="164592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Objetivo del Proyecto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2"/>
          <p:cNvSpPr/>
          <p:nvPr/>
        </p:nvSpPr>
        <p:spPr>
          <a:xfrm>
            <a:off x="365760" y="1143000"/>
            <a:ext cx="8412480" cy="1234440"/>
          </a:xfrm>
          <a:prstGeom prst="rect">
            <a:avLst/>
          </a:prstGeom>
          <a:solidFill>
            <a:srgbClr val="DBEAFE"/>
          </a:solidFill>
          <a:ln cap="flat" cmpd="sng" w="101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2" name="Google Shape;42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360" y="1325880"/>
            <a:ext cx="594360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2"/>
          <p:cNvSpPr/>
          <p:nvPr/>
        </p:nvSpPr>
        <p:spPr>
          <a:xfrm>
            <a:off x="1371600" y="1188720"/>
            <a:ext cx="71323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Implantar un servidor de correo electrónico corporativo propio,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independiente de proveedores externos (Gmail, Outlook 365…)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2"/>
          <p:cNvSpPr/>
          <p:nvPr/>
        </p:nvSpPr>
        <p:spPr>
          <a:xfrm>
            <a:off x="365760" y="2606040"/>
            <a:ext cx="2606040" cy="2103120"/>
          </a:xfrm>
          <a:prstGeom prst="rect">
            <a:avLst/>
          </a:prstGeom>
          <a:solidFill>
            <a:srgbClr val="CFFAFE"/>
          </a:solidFill>
          <a:ln cap="flat" cmpd="sng" w="101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5" name="Google Shape;45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371600" y="2743200"/>
            <a:ext cx="594360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Google Shape;46;p2"/>
          <p:cNvSpPr/>
          <p:nvPr/>
        </p:nvSpPr>
        <p:spPr>
          <a:xfrm>
            <a:off x="502920" y="3401568"/>
            <a:ext cx="2331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Privacidad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2"/>
          <p:cNvSpPr/>
          <p:nvPr/>
        </p:nvSpPr>
        <p:spPr>
          <a:xfrm>
            <a:off x="502920" y="3794760"/>
            <a:ext cx="23317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Datos en nuestro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propio servidor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2"/>
          <p:cNvSpPr/>
          <p:nvPr/>
        </p:nvSpPr>
        <p:spPr>
          <a:xfrm>
            <a:off x="3200400" y="2606040"/>
            <a:ext cx="2606040" cy="2103120"/>
          </a:xfrm>
          <a:prstGeom prst="rect">
            <a:avLst/>
          </a:prstGeom>
          <a:solidFill>
            <a:srgbClr val="DBEAFE"/>
          </a:solidFill>
          <a:ln cap="flat" cmpd="sng" w="101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9" name="Google Shape;49;p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206240" y="2743200"/>
            <a:ext cx="594360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2"/>
          <p:cNvSpPr/>
          <p:nvPr/>
        </p:nvSpPr>
        <p:spPr>
          <a:xfrm>
            <a:off x="3337560" y="3401568"/>
            <a:ext cx="2331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Control total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"/>
          <p:cNvSpPr/>
          <p:nvPr/>
        </p:nvSpPr>
        <p:spPr>
          <a:xfrm>
            <a:off x="3337560" y="3794760"/>
            <a:ext cx="23317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Configuración y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administración propias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2"/>
          <p:cNvSpPr/>
          <p:nvPr/>
        </p:nvSpPr>
        <p:spPr>
          <a:xfrm>
            <a:off x="6035040" y="2606040"/>
            <a:ext cx="2606040" cy="2103120"/>
          </a:xfrm>
          <a:prstGeom prst="rect">
            <a:avLst/>
          </a:prstGeom>
          <a:solidFill>
            <a:srgbClr val="DCFCE7"/>
          </a:solidFill>
          <a:ln cap="flat" cmpd="sng" w="101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53" name="Google Shape;53;p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040880" y="2743200"/>
            <a:ext cx="594360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2"/>
          <p:cNvSpPr/>
          <p:nvPr/>
        </p:nvSpPr>
        <p:spPr>
          <a:xfrm>
            <a:off x="6172200" y="3401568"/>
            <a:ext cx="2331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Independencia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2"/>
          <p:cNvSpPr/>
          <p:nvPr/>
        </p:nvSpPr>
        <p:spPr>
          <a:xfrm>
            <a:off x="6172200" y="3794760"/>
            <a:ext cx="23317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Sin costes de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suscripción externa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2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" name="Google Shape;57;p2"/>
          <p:cNvSpPr/>
          <p:nvPr/>
        </p:nvSpPr>
        <p:spPr>
          <a:xfrm>
            <a:off x="274320" y="4864608"/>
            <a:ext cx="85953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proyectosmr.abrdns.com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" name="Google Shape;64;p3"/>
          <p:cNvSpPr/>
          <p:nvPr/>
        </p:nvSpPr>
        <p:spPr>
          <a:xfrm>
            <a:off x="457200" y="164592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Arquitectura del Sistema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3"/>
          <p:cNvSpPr/>
          <p:nvPr/>
        </p:nvSpPr>
        <p:spPr>
          <a:xfrm>
            <a:off x="274320" y="1188720"/>
            <a:ext cx="1920240" cy="1417320"/>
          </a:xfrm>
          <a:prstGeom prst="rect">
            <a:avLst/>
          </a:prstGeom>
          <a:solidFill>
            <a:srgbClr val="CFFAFE"/>
          </a:solidFill>
          <a:ln cap="flat" cmpd="sng" w="101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66" name="Google Shape;66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32688" y="1298448"/>
            <a:ext cx="502920" cy="502920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3"/>
          <p:cNvSpPr/>
          <p:nvPr/>
        </p:nvSpPr>
        <p:spPr>
          <a:xfrm>
            <a:off x="365760" y="1847088"/>
            <a:ext cx="17373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Internet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3"/>
          <p:cNvSpPr/>
          <p:nvPr/>
        </p:nvSpPr>
        <p:spPr>
          <a:xfrm>
            <a:off x="365760" y="2212848"/>
            <a:ext cx="17373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Correo entrante/saliente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3"/>
          <p:cNvSpPr/>
          <p:nvPr/>
        </p:nvSpPr>
        <p:spPr>
          <a:xfrm>
            <a:off x="2194560" y="1801368"/>
            <a:ext cx="201168" cy="5486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" name="Google Shape;70;p3"/>
          <p:cNvSpPr/>
          <p:nvPr/>
        </p:nvSpPr>
        <p:spPr>
          <a:xfrm>
            <a:off x="2340864" y="1719072"/>
            <a:ext cx="182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▶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3"/>
          <p:cNvSpPr/>
          <p:nvPr/>
        </p:nvSpPr>
        <p:spPr>
          <a:xfrm>
            <a:off x="2450592" y="1188720"/>
            <a:ext cx="1920240" cy="1417320"/>
          </a:xfrm>
          <a:prstGeom prst="rect">
            <a:avLst/>
          </a:prstGeom>
          <a:solidFill>
            <a:srgbClr val="DBEAFE"/>
          </a:solidFill>
          <a:ln cap="flat" cmpd="sng" w="101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72" name="Google Shape;72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108960" y="1298448"/>
            <a:ext cx="502920" cy="50292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3"/>
          <p:cNvSpPr/>
          <p:nvPr/>
        </p:nvSpPr>
        <p:spPr>
          <a:xfrm>
            <a:off x="2542032" y="1847088"/>
            <a:ext cx="17373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Postfix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3"/>
          <p:cNvSpPr/>
          <p:nvPr/>
        </p:nvSpPr>
        <p:spPr>
          <a:xfrm>
            <a:off x="2542032" y="2212848"/>
            <a:ext cx="17373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SMTP · puertos 25/587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3"/>
          <p:cNvSpPr/>
          <p:nvPr/>
        </p:nvSpPr>
        <p:spPr>
          <a:xfrm>
            <a:off x="4370832" y="1801368"/>
            <a:ext cx="201168" cy="5486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" name="Google Shape;76;p3"/>
          <p:cNvSpPr/>
          <p:nvPr/>
        </p:nvSpPr>
        <p:spPr>
          <a:xfrm>
            <a:off x="4517136" y="1719072"/>
            <a:ext cx="182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▶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3"/>
          <p:cNvSpPr/>
          <p:nvPr/>
        </p:nvSpPr>
        <p:spPr>
          <a:xfrm>
            <a:off x="4626864" y="1188720"/>
            <a:ext cx="1920240" cy="1417320"/>
          </a:xfrm>
          <a:prstGeom prst="rect">
            <a:avLst/>
          </a:prstGeom>
          <a:solidFill>
            <a:srgbClr val="DBEAFE"/>
          </a:solidFill>
          <a:ln cap="flat" cmpd="sng" w="101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78" name="Google Shape;78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285232" y="1298448"/>
            <a:ext cx="502920" cy="502920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3"/>
          <p:cNvSpPr/>
          <p:nvPr/>
        </p:nvSpPr>
        <p:spPr>
          <a:xfrm>
            <a:off x="4718304" y="1847088"/>
            <a:ext cx="17373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Dovecot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3"/>
          <p:cNvSpPr/>
          <p:nvPr/>
        </p:nvSpPr>
        <p:spPr>
          <a:xfrm>
            <a:off x="4718304" y="2212848"/>
            <a:ext cx="17373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IMAP · puerto 993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3"/>
          <p:cNvSpPr/>
          <p:nvPr/>
        </p:nvSpPr>
        <p:spPr>
          <a:xfrm>
            <a:off x="6547104" y="1801368"/>
            <a:ext cx="201168" cy="5486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3"/>
          <p:cNvSpPr/>
          <p:nvPr/>
        </p:nvSpPr>
        <p:spPr>
          <a:xfrm>
            <a:off x="6693408" y="1719072"/>
            <a:ext cx="182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▶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3"/>
          <p:cNvSpPr/>
          <p:nvPr/>
        </p:nvSpPr>
        <p:spPr>
          <a:xfrm>
            <a:off x="6803136" y="1188720"/>
            <a:ext cx="1920240" cy="1417320"/>
          </a:xfrm>
          <a:prstGeom prst="rect">
            <a:avLst/>
          </a:prstGeom>
          <a:solidFill>
            <a:srgbClr val="DBEAFE"/>
          </a:solidFill>
          <a:ln cap="flat" cmpd="sng" w="101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84" name="Google Shape;84;p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461504" y="1298448"/>
            <a:ext cx="502920" cy="50292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3"/>
          <p:cNvSpPr/>
          <p:nvPr/>
        </p:nvSpPr>
        <p:spPr>
          <a:xfrm>
            <a:off x="6894576" y="1847088"/>
            <a:ext cx="17373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Maildir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3"/>
          <p:cNvSpPr/>
          <p:nvPr/>
        </p:nvSpPr>
        <p:spPr>
          <a:xfrm>
            <a:off x="6894576" y="2212848"/>
            <a:ext cx="17373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~/Maildir/ (buzones)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3"/>
          <p:cNvSpPr/>
          <p:nvPr/>
        </p:nvSpPr>
        <p:spPr>
          <a:xfrm>
            <a:off x="365760" y="2880360"/>
            <a:ext cx="84124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Clientes de acceso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3"/>
          <p:cNvSpPr/>
          <p:nvPr/>
        </p:nvSpPr>
        <p:spPr>
          <a:xfrm>
            <a:off x="274320" y="3291840"/>
            <a:ext cx="1920240" cy="1417320"/>
          </a:xfrm>
          <a:prstGeom prst="rect">
            <a:avLst/>
          </a:prstGeom>
          <a:solidFill>
            <a:srgbClr val="F8FAFC"/>
          </a:solidFill>
          <a:ln cap="flat" cmpd="sng" w="101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89" name="Google Shape;89;p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32688" y="3401568"/>
            <a:ext cx="502920" cy="502920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3"/>
          <p:cNvSpPr/>
          <p:nvPr/>
        </p:nvSpPr>
        <p:spPr>
          <a:xfrm>
            <a:off x="365760" y="3950208"/>
            <a:ext cx="17373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Thunderbird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3"/>
          <p:cNvSpPr/>
          <p:nvPr/>
        </p:nvSpPr>
        <p:spPr>
          <a:xfrm>
            <a:off x="365760" y="4270248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IMAP + SMTP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3"/>
          <p:cNvSpPr/>
          <p:nvPr/>
        </p:nvSpPr>
        <p:spPr>
          <a:xfrm>
            <a:off x="2450592" y="3291840"/>
            <a:ext cx="1920240" cy="1417320"/>
          </a:xfrm>
          <a:prstGeom prst="rect">
            <a:avLst/>
          </a:prstGeom>
          <a:solidFill>
            <a:srgbClr val="F8FAFC"/>
          </a:solidFill>
          <a:ln cap="flat" cmpd="sng" w="101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93" name="Google Shape;93;p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3108960" y="3401568"/>
            <a:ext cx="502920" cy="50292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3"/>
          <p:cNvSpPr/>
          <p:nvPr/>
        </p:nvSpPr>
        <p:spPr>
          <a:xfrm>
            <a:off x="2542032" y="3950208"/>
            <a:ext cx="17373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Outlook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3"/>
          <p:cNvSpPr/>
          <p:nvPr/>
        </p:nvSpPr>
        <p:spPr>
          <a:xfrm>
            <a:off x="2542032" y="4270248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IMAP + SMTP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3"/>
          <p:cNvSpPr/>
          <p:nvPr/>
        </p:nvSpPr>
        <p:spPr>
          <a:xfrm>
            <a:off x="4626864" y="3291840"/>
            <a:ext cx="1920240" cy="1417320"/>
          </a:xfrm>
          <a:prstGeom prst="rect">
            <a:avLst/>
          </a:prstGeom>
          <a:solidFill>
            <a:srgbClr val="F8FAFC"/>
          </a:solidFill>
          <a:ln cap="flat" cmpd="sng" w="101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97" name="Google Shape;97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85232" y="3401568"/>
            <a:ext cx="502920" cy="5029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3"/>
          <p:cNvSpPr/>
          <p:nvPr/>
        </p:nvSpPr>
        <p:spPr>
          <a:xfrm>
            <a:off x="4718304" y="3950208"/>
            <a:ext cx="17373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Roundcube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3"/>
          <p:cNvSpPr/>
          <p:nvPr/>
        </p:nvSpPr>
        <p:spPr>
          <a:xfrm>
            <a:off x="4718304" y="4270248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Webmail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3"/>
          <p:cNvSpPr/>
          <p:nvPr/>
        </p:nvSpPr>
        <p:spPr>
          <a:xfrm>
            <a:off x="6803136" y="3291840"/>
            <a:ext cx="1920240" cy="1417320"/>
          </a:xfrm>
          <a:prstGeom prst="rect">
            <a:avLst/>
          </a:prstGeom>
          <a:solidFill>
            <a:srgbClr val="F8FAFC"/>
          </a:solidFill>
          <a:ln cap="flat" cmpd="sng" w="101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01" name="Google Shape;101;p3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7461504" y="3401568"/>
            <a:ext cx="502920" cy="502920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3"/>
          <p:cNvSpPr/>
          <p:nvPr/>
        </p:nvSpPr>
        <p:spPr>
          <a:xfrm>
            <a:off x="6894576" y="3950208"/>
            <a:ext cx="17373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Móviles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3"/>
          <p:cNvSpPr/>
          <p:nvPr/>
        </p:nvSpPr>
        <p:spPr>
          <a:xfrm>
            <a:off x="6894576" y="4270248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iOS/Android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3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"/>
          <p:cNvSpPr/>
          <p:nvPr/>
        </p:nvSpPr>
        <p:spPr>
          <a:xfrm>
            <a:off x="274320" y="4864608"/>
            <a:ext cx="85953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proyectosmr.abrdns.com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"/>
          <p:cNvSpPr/>
          <p:nvPr/>
        </p:nvSpPr>
        <p:spPr>
          <a:xfrm>
            <a:off x="457200" y="164592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Stack Tecnológico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4"/>
          <p:cNvSpPr/>
          <p:nvPr/>
        </p:nvSpPr>
        <p:spPr>
          <a:xfrm>
            <a:off x="274320" y="1078992"/>
            <a:ext cx="4206240" cy="1143000"/>
          </a:xfrm>
          <a:prstGeom prst="rect">
            <a:avLst/>
          </a:prstGeom>
          <a:solidFill>
            <a:srgbClr val="DBEAFE"/>
          </a:solidFill>
          <a:ln cap="flat" cmpd="sng" w="101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14" name="Google Shape;114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1480" y="1353312"/>
            <a:ext cx="502920" cy="502920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4"/>
          <p:cNvSpPr/>
          <p:nvPr/>
        </p:nvSpPr>
        <p:spPr>
          <a:xfrm>
            <a:off x="1051560" y="1152144"/>
            <a:ext cx="32918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Postfix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4"/>
          <p:cNvSpPr/>
          <p:nvPr/>
        </p:nvSpPr>
        <p:spPr>
          <a:xfrm>
            <a:off x="1051560" y="1536192"/>
            <a:ext cx="32918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Agente MTA. Gestiona envío y recepción de correo mediante SMTP.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4"/>
          <p:cNvSpPr/>
          <p:nvPr/>
        </p:nvSpPr>
        <p:spPr>
          <a:xfrm>
            <a:off x="4663440" y="1078992"/>
            <a:ext cx="4206240" cy="1143000"/>
          </a:xfrm>
          <a:prstGeom prst="rect">
            <a:avLst/>
          </a:prstGeom>
          <a:solidFill>
            <a:srgbClr val="CFFAFE"/>
          </a:solidFill>
          <a:ln cap="flat" cmpd="sng" w="101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18" name="Google Shape;118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800600" y="1353312"/>
            <a:ext cx="502920" cy="502920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4"/>
          <p:cNvSpPr/>
          <p:nvPr/>
        </p:nvSpPr>
        <p:spPr>
          <a:xfrm>
            <a:off x="5440680" y="1152144"/>
            <a:ext cx="32918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Dovecot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4"/>
          <p:cNvSpPr/>
          <p:nvPr/>
        </p:nvSpPr>
        <p:spPr>
          <a:xfrm>
            <a:off x="5440680" y="1536192"/>
            <a:ext cx="32918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Servidor IMAP/POP3. Gestiona buzones y autenticación SASL.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4"/>
          <p:cNvSpPr/>
          <p:nvPr/>
        </p:nvSpPr>
        <p:spPr>
          <a:xfrm>
            <a:off x="274320" y="2423160"/>
            <a:ext cx="4206240" cy="1143000"/>
          </a:xfrm>
          <a:prstGeom prst="rect">
            <a:avLst/>
          </a:prstGeom>
          <a:solidFill>
            <a:srgbClr val="DCFCE7"/>
          </a:solidFill>
          <a:ln cap="flat" cmpd="sng" w="101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22" name="Google Shape;122;p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11480" y="2697480"/>
            <a:ext cx="502920" cy="502920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4"/>
          <p:cNvSpPr/>
          <p:nvPr/>
        </p:nvSpPr>
        <p:spPr>
          <a:xfrm>
            <a:off x="1051560" y="2496312"/>
            <a:ext cx="32918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Roundcube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4"/>
          <p:cNvSpPr/>
          <p:nvPr/>
        </p:nvSpPr>
        <p:spPr>
          <a:xfrm>
            <a:off x="1051560" y="2880360"/>
            <a:ext cx="32918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Webmail accesible desde cualquier navegador, sin instalar nada.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4"/>
          <p:cNvSpPr/>
          <p:nvPr/>
        </p:nvSpPr>
        <p:spPr>
          <a:xfrm>
            <a:off x="4663440" y="2423160"/>
            <a:ext cx="4206240" cy="1143000"/>
          </a:xfrm>
          <a:prstGeom prst="rect">
            <a:avLst/>
          </a:prstGeom>
          <a:solidFill>
            <a:srgbClr val="DBEAFE"/>
          </a:solidFill>
          <a:ln cap="flat" cmpd="sng" w="101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26" name="Google Shape;126;p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800600" y="2697480"/>
            <a:ext cx="502920" cy="502920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4"/>
          <p:cNvSpPr/>
          <p:nvPr/>
        </p:nvSpPr>
        <p:spPr>
          <a:xfrm>
            <a:off x="5440680" y="2496312"/>
            <a:ext cx="32918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Webmin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4"/>
          <p:cNvSpPr/>
          <p:nvPr/>
        </p:nvSpPr>
        <p:spPr>
          <a:xfrm>
            <a:off x="5440680" y="2880360"/>
            <a:ext cx="32918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Panel web de administración: usuarios, servicios y monitorización.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4"/>
          <p:cNvSpPr/>
          <p:nvPr/>
        </p:nvSpPr>
        <p:spPr>
          <a:xfrm>
            <a:off x="2423160" y="3749040"/>
            <a:ext cx="4297680" cy="1143000"/>
          </a:xfrm>
          <a:prstGeom prst="rect">
            <a:avLst/>
          </a:prstGeom>
          <a:solidFill>
            <a:srgbClr val="F8FAFC"/>
          </a:solidFill>
          <a:ln cap="flat" cmpd="sng" w="101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30" name="Google Shape;130;p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560320" y="4023360"/>
            <a:ext cx="502920" cy="502920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4"/>
          <p:cNvSpPr/>
          <p:nvPr/>
        </p:nvSpPr>
        <p:spPr>
          <a:xfrm>
            <a:off x="3200400" y="3822192"/>
            <a:ext cx="33832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Ubuntu Server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4"/>
          <p:cNvSpPr/>
          <p:nvPr/>
        </p:nvSpPr>
        <p:spPr>
          <a:xfrm>
            <a:off x="3200400" y="4206240"/>
            <a:ext cx="33832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Sistema operativo base. Toda la infraestructura montada a mano.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4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4"/>
          <p:cNvSpPr/>
          <p:nvPr/>
        </p:nvSpPr>
        <p:spPr>
          <a:xfrm>
            <a:off x="274320" y="4864608"/>
            <a:ext cx="85953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proyectosmr.abrdns.com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5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5"/>
          <p:cNvSpPr/>
          <p:nvPr/>
        </p:nvSpPr>
        <p:spPr>
          <a:xfrm>
            <a:off x="457200" y="164592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Dominio y Configuración DNS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5"/>
          <p:cNvSpPr/>
          <p:nvPr/>
        </p:nvSpPr>
        <p:spPr>
          <a:xfrm>
            <a:off x="274320" y="1097280"/>
            <a:ext cx="3931920" cy="1645920"/>
          </a:xfrm>
          <a:prstGeom prst="rect">
            <a:avLst/>
          </a:prstGeom>
          <a:solidFill>
            <a:srgbClr val="DBEAFE"/>
          </a:solidFill>
          <a:ln cap="flat" cmpd="sng" w="101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43" name="Google Shape;143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2920" y="1234440"/>
            <a:ext cx="548640" cy="548640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5"/>
          <p:cNvSpPr/>
          <p:nvPr/>
        </p:nvSpPr>
        <p:spPr>
          <a:xfrm>
            <a:off x="1143000" y="114300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63EB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rPr>
              <a:t>Dominio principal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5"/>
          <p:cNvSpPr/>
          <p:nvPr/>
        </p:nvSpPr>
        <p:spPr>
          <a:xfrm>
            <a:off x="457205" y="1691629"/>
            <a:ext cx="35661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proyectosmr.abrdns.com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5"/>
          <p:cNvSpPr/>
          <p:nvPr/>
        </p:nvSpPr>
        <p:spPr>
          <a:xfrm>
            <a:off x="411480" y="2048253"/>
            <a:ext cx="35661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Servidor: mail.proyectosmr.abrdns.com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5"/>
          <p:cNvSpPr/>
          <p:nvPr/>
        </p:nvSpPr>
        <p:spPr>
          <a:xfrm>
            <a:off x="411442" y="2322530"/>
            <a:ext cx="35661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Webmail:  roundcube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5"/>
          <p:cNvSpPr/>
          <p:nvPr/>
        </p:nvSpPr>
        <p:spPr>
          <a:xfrm>
            <a:off x="4572000" y="1097280"/>
            <a:ext cx="4114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Registros DNS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49" name="Google Shape;149;p5"/>
          <p:cNvGraphicFramePr/>
          <p:nvPr/>
        </p:nvGraphicFramePr>
        <p:xfrm>
          <a:off x="4480560" y="150876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{13DDE6C4-1B91-4A86-BC09-4D31179B8624}</a:tableStyleId>
              </a:tblPr>
              <a:tblGrid>
                <a:gridCol w="640075"/>
                <a:gridCol w="1737350"/>
                <a:gridCol w="2011675"/>
              </a:tblGrid>
              <a:tr h="35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Tipo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Nombre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Valor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293B"/>
                    </a:solidFill>
                  </a:tcPr>
                </a:tc>
              </a:tr>
              <a:tr h="35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mail.proyectosmr…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IP_SERVIDOR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</a:tr>
              <a:tr h="35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MX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proyectosmr…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mail.proyectosmr…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</a:tr>
              <a:tr h="35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TXT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proyectosmr…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E293B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v=spf1 mx ~all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50" name="Google Shape;150;p5"/>
          <p:cNvSpPr/>
          <p:nvPr/>
        </p:nvSpPr>
        <p:spPr>
          <a:xfrm>
            <a:off x="274320" y="2926080"/>
            <a:ext cx="85953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Puertos del servidor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5"/>
          <p:cNvSpPr/>
          <p:nvPr/>
        </p:nvSpPr>
        <p:spPr>
          <a:xfrm>
            <a:off x="274320" y="3364992"/>
            <a:ext cx="1920240" cy="1371600"/>
          </a:xfrm>
          <a:prstGeom prst="rect">
            <a:avLst/>
          </a:prstGeom>
          <a:solidFill>
            <a:srgbClr val="DBEAFE"/>
          </a:solidFill>
          <a:ln cap="flat" cmpd="sng" w="101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5"/>
          <p:cNvSpPr/>
          <p:nvPr/>
        </p:nvSpPr>
        <p:spPr>
          <a:xfrm>
            <a:off x="365760" y="3493008"/>
            <a:ext cx="1737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63EB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rPr>
              <a:t>25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5"/>
          <p:cNvSpPr/>
          <p:nvPr/>
        </p:nvSpPr>
        <p:spPr>
          <a:xfrm>
            <a:off x="365760" y="4096512"/>
            <a:ext cx="17373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SMTP entrada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5"/>
          <p:cNvSpPr/>
          <p:nvPr/>
        </p:nvSpPr>
        <p:spPr>
          <a:xfrm>
            <a:off x="2450592" y="3364992"/>
            <a:ext cx="1920240" cy="1371600"/>
          </a:xfrm>
          <a:prstGeom prst="rect">
            <a:avLst/>
          </a:prstGeom>
          <a:solidFill>
            <a:srgbClr val="DBEAFE"/>
          </a:solidFill>
          <a:ln cap="flat" cmpd="sng" w="101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5"/>
          <p:cNvSpPr/>
          <p:nvPr/>
        </p:nvSpPr>
        <p:spPr>
          <a:xfrm>
            <a:off x="2542032" y="3493008"/>
            <a:ext cx="1737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563EB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rPr>
              <a:t>587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5"/>
          <p:cNvSpPr/>
          <p:nvPr/>
        </p:nvSpPr>
        <p:spPr>
          <a:xfrm>
            <a:off x="2542032" y="4096512"/>
            <a:ext cx="17373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SMTP autenticado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5"/>
          <p:cNvSpPr/>
          <p:nvPr/>
        </p:nvSpPr>
        <p:spPr>
          <a:xfrm>
            <a:off x="4626864" y="3364992"/>
            <a:ext cx="1920240" cy="1371600"/>
          </a:xfrm>
          <a:prstGeom prst="rect">
            <a:avLst/>
          </a:prstGeom>
          <a:solidFill>
            <a:srgbClr val="CFFAFE"/>
          </a:solidFill>
          <a:ln cap="flat" cmpd="sng" w="101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5"/>
          <p:cNvSpPr/>
          <p:nvPr/>
        </p:nvSpPr>
        <p:spPr>
          <a:xfrm>
            <a:off x="4718304" y="3493008"/>
            <a:ext cx="1737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891B2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0891B2"/>
                </a:solidFill>
                <a:latin typeface="Calibri"/>
                <a:ea typeface="Calibri"/>
                <a:cs typeface="Calibri"/>
                <a:sym typeface="Calibri"/>
              </a:rPr>
              <a:t>993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5"/>
          <p:cNvSpPr/>
          <p:nvPr/>
        </p:nvSpPr>
        <p:spPr>
          <a:xfrm>
            <a:off x="4718304" y="4096512"/>
            <a:ext cx="17373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IMAP seguro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5"/>
          <p:cNvSpPr/>
          <p:nvPr/>
        </p:nvSpPr>
        <p:spPr>
          <a:xfrm>
            <a:off x="6803136" y="3364992"/>
            <a:ext cx="1920240" cy="1371600"/>
          </a:xfrm>
          <a:prstGeom prst="rect">
            <a:avLst/>
          </a:prstGeom>
          <a:solidFill>
            <a:srgbClr val="F8FAFC"/>
          </a:solidFill>
          <a:ln cap="flat" cmpd="sng" w="101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5"/>
          <p:cNvSpPr/>
          <p:nvPr/>
        </p:nvSpPr>
        <p:spPr>
          <a:xfrm>
            <a:off x="6894576" y="3493008"/>
            <a:ext cx="1737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10000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5"/>
          <p:cNvSpPr/>
          <p:nvPr/>
        </p:nvSpPr>
        <p:spPr>
          <a:xfrm>
            <a:off x="6894576" y="4096512"/>
            <a:ext cx="17373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Webmin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5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5"/>
          <p:cNvSpPr/>
          <p:nvPr/>
        </p:nvSpPr>
        <p:spPr>
          <a:xfrm>
            <a:off x="274320" y="4864608"/>
            <a:ext cx="85953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proyectosmr.abrdns.com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6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6"/>
          <p:cNvSpPr/>
          <p:nvPr/>
        </p:nvSpPr>
        <p:spPr>
          <a:xfrm>
            <a:off x="457200" y="164592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Reparto de Tareas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6"/>
          <p:cNvSpPr/>
          <p:nvPr/>
        </p:nvSpPr>
        <p:spPr>
          <a:xfrm>
            <a:off x="274320" y="1051560"/>
            <a:ext cx="4023360" cy="3794760"/>
          </a:xfrm>
          <a:prstGeom prst="rect">
            <a:avLst/>
          </a:prstGeom>
          <a:solidFill>
            <a:srgbClr val="DBEAFE"/>
          </a:solidFill>
          <a:ln cap="flat" cmpd="sng" w="101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6"/>
          <p:cNvSpPr/>
          <p:nvPr/>
        </p:nvSpPr>
        <p:spPr>
          <a:xfrm>
            <a:off x="274320" y="1051560"/>
            <a:ext cx="4023360" cy="65836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74" name="Google Shape;174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1115568"/>
            <a:ext cx="438912" cy="438912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6"/>
          <p:cNvSpPr/>
          <p:nvPr/>
        </p:nvSpPr>
        <p:spPr>
          <a:xfrm>
            <a:off x="987552" y="1115568"/>
            <a:ext cx="31089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Daniel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76" name="Google Shape;176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1920240"/>
            <a:ext cx="347472" cy="34747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6"/>
          <p:cNvSpPr/>
          <p:nvPr/>
        </p:nvSpPr>
        <p:spPr>
          <a:xfrm>
            <a:off x="914400" y="1874520"/>
            <a:ext cx="32004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Postfix (SMTP)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6"/>
          <p:cNvSpPr/>
          <p:nvPr/>
        </p:nvSpPr>
        <p:spPr>
          <a:xfrm>
            <a:off x="914400" y="2221992"/>
            <a:ext cx="3200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Instalación y configuración de main.cf, parámetros SASL e integración con Dovecot.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79" name="Google Shape;179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57200" y="2880360"/>
            <a:ext cx="347472" cy="347472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6"/>
          <p:cNvSpPr/>
          <p:nvPr/>
        </p:nvSpPr>
        <p:spPr>
          <a:xfrm>
            <a:off x="914400" y="2834640"/>
            <a:ext cx="32004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DNS y Dominio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6"/>
          <p:cNvSpPr/>
          <p:nvPr/>
        </p:nvSpPr>
        <p:spPr>
          <a:xfrm>
            <a:off x="914400" y="3182112"/>
            <a:ext cx="3200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Configuración de registros A, MX y SPF para el dominio proyectosmr.abrdns.com.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82" name="Google Shape;182;p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57200" y="3840480"/>
            <a:ext cx="347472" cy="347472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6"/>
          <p:cNvSpPr/>
          <p:nvPr/>
        </p:nvSpPr>
        <p:spPr>
          <a:xfrm>
            <a:off x="914400" y="3794760"/>
            <a:ext cx="32004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Firewall (UFW)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6"/>
          <p:cNvSpPr/>
          <p:nvPr/>
        </p:nvSpPr>
        <p:spPr>
          <a:xfrm>
            <a:off x="914400" y="4142232"/>
            <a:ext cx="3200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Apertura de puertos necesarios (25, 587, 993, 10000) y reglas de seguridad.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6"/>
          <p:cNvSpPr/>
          <p:nvPr/>
        </p:nvSpPr>
        <p:spPr>
          <a:xfrm>
            <a:off x="4846320" y="1051560"/>
            <a:ext cx="4023360" cy="3794760"/>
          </a:xfrm>
          <a:prstGeom prst="rect">
            <a:avLst/>
          </a:prstGeom>
          <a:solidFill>
            <a:srgbClr val="CFFAFE"/>
          </a:solidFill>
          <a:ln cap="flat" cmpd="sng" w="101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6"/>
          <p:cNvSpPr/>
          <p:nvPr/>
        </p:nvSpPr>
        <p:spPr>
          <a:xfrm>
            <a:off x="4846320" y="1051560"/>
            <a:ext cx="4023360" cy="658368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87" name="Google Shape;187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29200" y="1115568"/>
            <a:ext cx="438912" cy="438912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6"/>
          <p:cNvSpPr/>
          <p:nvPr/>
        </p:nvSpPr>
        <p:spPr>
          <a:xfrm>
            <a:off x="5559552" y="1115568"/>
            <a:ext cx="31089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Marcos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89" name="Google Shape;189;p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029200" y="1920240"/>
            <a:ext cx="347472" cy="347472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6"/>
          <p:cNvSpPr/>
          <p:nvPr/>
        </p:nvSpPr>
        <p:spPr>
          <a:xfrm>
            <a:off x="5486400" y="1874520"/>
            <a:ext cx="32004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Dovecot (IMAP/POP3)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6"/>
          <p:cNvSpPr/>
          <p:nvPr/>
        </p:nvSpPr>
        <p:spPr>
          <a:xfrm>
            <a:off x="5486400" y="2221992"/>
            <a:ext cx="3200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Instalación y configuración de 10-auth.conf, Maildir y autenticación SASL.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92" name="Google Shape;192;p6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5029200" y="2880360"/>
            <a:ext cx="347472" cy="347472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6"/>
          <p:cNvSpPr/>
          <p:nvPr/>
        </p:nvSpPr>
        <p:spPr>
          <a:xfrm>
            <a:off x="5486400" y="2834640"/>
            <a:ext cx="32004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Roundcube (Webmail)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6"/>
          <p:cNvSpPr/>
          <p:nvPr/>
        </p:nvSpPr>
        <p:spPr>
          <a:xfrm>
            <a:off x="5486400" y="3182112"/>
            <a:ext cx="3200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Instalación y configuración del cliente webmail accesible desde navegador.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95" name="Google Shape;195;p6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5029200" y="3840480"/>
            <a:ext cx="347472" cy="347472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6"/>
          <p:cNvSpPr/>
          <p:nvPr/>
        </p:nvSpPr>
        <p:spPr>
          <a:xfrm>
            <a:off x="5486400" y="3794760"/>
            <a:ext cx="32004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Webmin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6"/>
          <p:cNvSpPr/>
          <p:nvPr/>
        </p:nvSpPr>
        <p:spPr>
          <a:xfrm>
            <a:off x="5486400" y="4142232"/>
            <a:ext cx="3200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Instalación y configuración del panel de administración web del servidor.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6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p6"/>
          <p:cNvSpPr/>
          <p:nvPr/>
        </p:nvSpPr>
        <p:spPr>
          <a:xfrm>
            <a:off x="274320" y="4864608"/>
            <a:ext cx="85953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proyectosmr.abrdns.com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7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7"/>
          <p:cNvSpPr/>
          <p:nvPr/>
        </p:nvSpPr>
        <p:spPr>
          <a:xfrm>
            <a:off x="457200" y="164592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Estado del Proyecto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7"/>
          <p:cNvSpPr/>
          <p:nvPr/>
        </p:nvSpPr>
        <p:spPr>
          <a:xfrm>
            <a:off x="274320" y="1078992"/>
            <a:ext cx="2651760" cy="1463040"/>
          </a:xfrm>
          <a:prstGeom prst="rect">
            <a:avLst/>
          </a:prstGeom>
          <a:solidFill>
            <a:srgbClr val="DCFCE7"/>
          </a:solidFill>
          <a:ln cap="flat" cmpd="sng" w="101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08" name="Google Shape;208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25880" y="1243584"/>
            <a:ext cx="502920" cy="502920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7"/>
          <p:cNvSpPr/>
          <p:nvPr/>
        </p:nvSpPr>
        <p:spPr>
          <a:xfrm>
            <a:off x="384048" y="1828800"/>
            <a:ext cx="242316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Envío de correos funcionando (Postfix)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7"/>
          <p:cNvSpPr/>
          <p:nvPr/>
        </p:nvSpPr>
        <p:spPr>
          <a:xfrm>
            <a:off x="3154680" y="1078992"/>
            <a:ext cx="2651760" cy="1463040"/>
          </a:xfrm>
          <a:prstGeom prst="rect">
            <a:avLst/>
          </a:prstGeom>
          <a:solidFill>
            <a:srgbClr val="DCFCE7"/>
          </a:solidFill>
          <a:ln cap="flat" cmpd="sng" w="101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11" name="Google Shape;211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206240" y="1243584"/>
            <a:ext cx="502920" cy="502920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7"/>
          <p:cNvSpPr/>
          <p:nvPr/>
        </p:nvSpPr>
        <p:spPr>
          <a:xfrm>
            <a:off x="3264408" y="1828800"/>
            <a:ext cx="242316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Recepción local funcionando (Dovecot + Maildir)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7"/>
          <p:cNvSpPr/>
          <p:nvPr/>
        </p:nvSpPr>
        <p:spPr>
          <a:xfrm>
            <a:off x="6035040" y="1078992"/>
            <a:ext cx="2651760" cy="1463040"/>
          </a:xfrm>
          <a:prstGeom prst="rect">
            <a:avLst/>
          </a:prstGeom>
          <a:solidFill>
            <a:srgbClr val="DCFCE7"/>
          </a:solidFill>
          <a:ln cap="flat" cmpd="sng" w="101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14" name="Google Shape;214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86600" y="1243584"/>
            <a:ext cx="502920" cy="502920"/>
          </a:xfrm>
          <a:prstGeom prst="rect">
            <a:avLst/>
          </a:prstGeom>
          <a:noFill/>
          <a:ln>
            <a:noFill/>
          </a:ln>
        </p:spPr>
      </p:pic>
      <p:sp>
        <p:nvSpPr>
          <p:cNvPr id="215" name="Google Shape;215;p7"/>
          <p:cNvSpPr/>
          <p:nvPr/>
        </p:nvSpPr>
        <p:spPr>
          <a:xfrm>
            <a:off x="6144768" y="1828800"/>
            <a:ext cx="242316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Acceso desde Thunderbird y Microsoft Outlook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7"/>
          <p:cNvSpPr/>
          <p:nvPr/>
        </p:nvSpPr>
        <p:spPr>
          <a:xfrm>
            <a:off x="274320" y="2788920"/>
            <a:ext cx="2651760" cy="1463040"/>
          </a:xfrm>
          <a:prstGeom prst="rect">
            <a:avLst/>
          </a:prstGeom>
          <a:solidFill>
            <a:srgbClr val="DCFCE7"/>
          </a:solidFill>
          <a:ln cap="flat" cmpd="sng" w="101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17" name="Google Shape;217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25880" y="2953512"/>
            <a:ext cx="502920" cy="502920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7"/>
          <p:cNvSpPr/>
          <p:nvPr/>
        </p:nvSpPr>
        <p:spPr>
          <a:xfrm>
            <a:off x="384048" y="3538728"/>
            <a:ext cx="242316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Webmail operativo (Roundcube)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7"/>
          <p:cNvSpPr/>
          <p:nvPr/>
        </p:nvSpPr>
        <p:spPr>
          <a:xfrm>
            <a:off x="3154680" y="2788920"/>
            <a:ext cx="2651760" cy="1463040"/>
          </a:xfrm>
          <a:prstGeom prst="rect">
            <a:avLst/>
          </a:prstGeom>
          <a:solidFill>
            <a:srgbClr val="DCFCE7"/>
          </a:solidFill>
          <a:ln cap="flat" cmpd="sng" w="101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20" name="Google Shape;220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206240" y="2953512"/>
            <a:ext cx="502920" cy="502920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7"/>
          <p:cNvSpPr/>
          <p:nvPr/>
        </p:nvSpPr>
        <p:spPr>
          <a:xfrm>
            <a:off x="3264408" y="3538728"/>
            <a:ext cx="242316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Administración centralizada con Webmin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7"/>
          <p:cNvSpPr/>
          <p:nvPr/>
        </p:nvSpPr>
        <p:spPr>
          <a:xfrm>
            <a:off x="6035040" y="2788920"/>
            <a:ext cx="2651760" cy="1463040"/>
          </a:xfrm>
          <a:prstGeom prst="rect">
            <a:avLst/>
          </a:prstGeom>
          <a:solidFill>
            <a:srgbClr val="DCFCE7"/>
          </a:solidFill>
          <a:ln cap="flat" cmpd="sng" w="101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000000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23" name="Google Shape;223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86600" y="2953512"/>
            <a:ext cx="502920" cy="502920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7"/>
          <p:cNvSpPr/>
          <p:nvPr/>
        </p:nvSpPr>
        <p:spPr>
          <a:xfrm>
            <a:off x="6144768" y="3538728"/>
            <a:ext cx="242316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Servidor montado manualmente en Ubuntu Server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7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7"/>
          <p:cNvSpPr/>
          <p:nvPr/>
        </p:nvSpPr>
        <p:spPr>
          <a:xfrm>
            <a:off x="274320" y="4864608"/>
            <a:ext cx="85953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proyectosmr.abrdns.com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93B"/>
        </a:solidFill>
      </p:bgPr>
    </p:bg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232" name="Google Shape;232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7640" y="731520"/>
            <a:ext cx="1188720" cy="1188720"/>
          </a:xfrm>
          <a:prstGeom prst="rect">
            <a:avLst/>
          </a:prstGeom>
          <a:noFill/>
          <a:ln>
            <a:noFill/>
          </a:ln>
        </p:spPr>
      </p:pic>
      <p:sp>
        <p:nvSpPr>
          <p:cNvPr id="233" name="Google Shape;233;p8"/>
          <p:cNvSpPr/>
          <p:nvPr/>
        </p:nvSpPr>
        <p:spPr>
          <a:xfrm>
            <a:off x="914400" y="2103120"/>
            <a:ext cx="73152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Font typeface="Calibri"/>
              <a:buNone/>
            </a:pPr>
            <a:r>
              <a:rPr b="1" i="0" lang="en-US" sz="4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¡Gracias!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8"/>
          <p:cNvSpPr/>
          <p:nvPr/>
        </p:nvSpPr>
        <p:spPr>
          <a:xfrm>
            <a:off x="914400" y="2971800"/>
            <a:ext cx="73152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Proyecto Intermodular · Daniel y Marcos · 202</a:t>
            </a:r>
            <a:r>
              <a:rPr lang="en-US" sz="15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r>
              <a:rPr b="0" i="0" lang="en-US" sz="15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-202</a:t>
            </a:r>
            <a:r>
              <a:rPr lang="en-US" sz="15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8"/>
          <p:cNvSpPr/>
          <p:nvPr/>
        </p:nvSpPr>
        <p:spPr>
          <a:xfrm>
            <a:off x="1005840" y="3657600"/>
            <a:ext cx="1280160" cy="34747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6" name="Google Shape;236;p8"/>
          <p:cNvSpPr/>
          <p:nvPr/>
        </p:nvSpPr>
        <p:spPr>
          <a:xfrm>
            <a:off x="1005840" y="3657600"/>
            <a:ext cx="12801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Postfix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8"/>
          <p:cNvSpPr/>
          <p:nvPr/>
        </p:nvSpPr>
        <p:spPr>
          <a:xfrm>
            <a:off x="2450592" y="3657600"/>
            <a:ext cx="1280160" cy="34747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8"/>
          <p:cNvSpPr/>
          <p:nvPr/>
        </p:nvSpPr>
        <p:spPr>
          <a:xfrm>
            <a:off x="2450592" y="3657600"/>
            <a:ext cx="12801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Dovecot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8"/>
          <p:cNvSpPr/>
          <p:nvPr/>
        </p:nvSpPr>
        <p:spPr>
          <a:xfrm>
            <a:off x="3895344" y="3657600"/>
            <a:ext cx="1280160" cy="34747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p8"/>
          <p:cNvSpPr/>
          <p:nvPr/>
        </p:nvSpPr>
        <p:spPr>
          <a:xfrm>
            <a:off x="3895344" y="3657600"/>
            <a:ext cx="12801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Roundcube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8"/>
          <p:cNvSpPr/>
          <p:nvPr/>
        </p:nvSpPr>
        <p:spPr>
          <a:xfrm>
            <a:off x="5340096" y="3657600"/>
            <a:ext cx="1280160" cy="34747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2" name="Google Shape;242;p8"/>
          <p:cNvSpPr/>
          <p:nvPr/>
        </p:nvSpPr>
        <p:spPr>
          <a:xfrm>
            <a:off x="5340096" y="3657600"/>
            <a:ext cx="12801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Webmin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8"/>
          <p:cNvSpPr/>
          <p:nvPr/>
        </p:nvSpPr>
        <p:spPr>
          <a:xfrm>
            <a:off x="6784848" y="3657600"/>
            <a:ext cx="1280160" cy="34747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4" name="Google Shape;244;p8"/>
          <p:cNvSpPr/>
          <p:nvPr/>
        </p:nvSpPr>
        <p:spPr>
          <a:xfrm>
            <a:off x="6784848" y="3657600"/>
            <a:ext cx="12801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Ubuntu Server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8"/>
          <p:cNvSpPr/>
          <p:nvPr/>
        </p:nvSpPr>
        <p:spPr>
          <a:xfrm>
            <a:off x="914400" y="4462272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proyectosmr.abrdns.com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2026-05-11T20:15:04Z</dcterms:created>
  <dc:creator>PptxGenJS</dc:creator>
</cp:coreProperties>
</file>